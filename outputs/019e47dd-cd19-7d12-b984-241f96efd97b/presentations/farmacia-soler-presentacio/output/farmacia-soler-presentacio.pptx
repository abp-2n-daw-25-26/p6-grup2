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32a33e98347bc" /><Relationship Type="http://schemas.openxmlformats.org/officeDocument/2006/relationships/extended-properties" Target="/docProps/app.xml" Id="R07336cb1886f4627" /><Relationship Type="http://schemas.openxmlformats.org/officeDocument/2006/relationships/officeDocument" Target="/ppt/presentation.xml" Id="R9301aa0a4e334c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c9c4d14d654d75"/>
  </p:sldMasterIdLst>
  <p:notesMasterIdLst>
    <p:notesMasterId xmlns:r="http://schemas.openxmlformats.org/officeDocument/2006/relationships" r:id="Re399ec0c09f04605"/>
  </p:notesMasterIdLst>
  <p:sldIdLst>
    <p:sldId xmlns:r="http://schemas.openxmlformats.org/officeDocument/2006/relationships" id="256" r:id="R2d84f59f6e514eb8"/>
    <p:sldId xmlns:r="http://schemas.openxmlformats.org/officeDocument/2006/relationships" id="257" r:id="Raea444a704d14bae"/>
    <p:sldId xmlns:r="http://schemas.openxmlformats.org/officeDocument/2006/relationships" id="258" r:id="Ra17ff93ae6cb4941"/>
    <p:sldId xmlns:r="http://schemas.openxmlformats.org/officeDocument/2006/relationships" id="259" r:id="R3f59b74401f242bf"/>
    <p:sldId xmlns:r="http://schemas.openxmlformats.org/officeDocument/2006/relationships" id="260" r:id="R613023e9ff334b4a"/>
    <p:sldId xmlns:r="http://schemas.openxmlformats.org/officeDocument/2006/relationships" id="261" r:id="Re997a807741842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9c4d14d654d75" /><Relationship Type="http://schemas.openxmlformats.org/officeDocument/2006/relationships/theme" Target="/ppt/theme/theme1.xml" Id="R42b58be216c541c4" /><Relationship Type="http://schemas.openxmlformats.org/officeDocument/2006/relationships/notesMaster" Target="/ppt/notesMasters/notesMaster1.xml" Id="Re399ec0c09f04605" /><Relationship Type="http://schemas.openxmlformats.org/officeDocument/2006/relationships/presProps" Target="/ppt/presProps.xml" Id="R3c2589a31ded4310" /><Relationship Type="http://schemas.openxmlformats.org/officeDocument/2006/relationships/viewProps" Target="/ppt/viewProps.xml" Id="Reef8d1f316864435" /><Relationship Type="http://schemas.openxmlformats.org/officeDocument/2006/relationships/tableStyles" Target="/ppt/tableStyles.xml" Id="R284293ea7a014d2e" /><Relationship Type="http://schemas.openxmlformats.org/officeDocument/2006/relationships/slide" Target="/ppt/slides/slide1.xml" Id="R2d84f59f6e514eb8" /><Relationship Type="http://schemas.openxmlformats.org/officeDocument/2006/relationships/slide" Target="/ppt/slides/slide2.xml" Id="Raea444a704d14bae" /><Relationship Type="http://schemas.openxmlformats.org/officeDocument/2006/relationships/slide" Target="/ppt/slides/slide3.xml" Id="Ra17ff93ae6cb4941" /><Relationship Type="http://schemas.openxmlformats.org/officeDocument/2006/relationships/slide" Target="/ppt/slides/slide4.xml" Id="R3f59b74401f242bf" /><Relationship Type="http://schemas.openxmlformats.org/officeDocument/2006/relationships/slide" Target="/ppt/slides/slide5.xml" Id="R613023e9ff334b4a" /><Relationship Type="http://schemas.openxmlformats.org/officeDocument/2006/relationships/slide" Target="/ppt/slides/slide6.xml" Id="Re997a8077418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05519a6d21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d9fb3cf61c4e98" /><Relationship Type="http://schemas.openxmlformats.org/officeDocument/2006/relationships/notesMaster" Target="/ppt/notesMasters/notesMaster1.xml" Id="Re216680b6670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8a9ca13994362" /><Relationship Type="http://schemas.openxmlformats.org/officeDocument/2006/relationships/notesMaster" Target="/ppt/notesMasters/notesMaster1.xml" Id="Rbac6f342001b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a19246f12c4c5e" /><Relationship Type="http://schemas.openxmlformats.org/officeDocument/2006/relationships/notesMaster" Target="/ppt/notesMasters/notesMaster1.xml" Id="R7e15e17d8be2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faa87529440ce" /><Relationship Type="http://schemas.openxmlformats.org/officeDocument/2006/relationships/notesMaster" Target="/ppt/notesMasters/notesMaster1.xml" Id="R67c2c8e18fd3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53897927af4fc9" /><Relationship Type="http://schemas.openxmlformats.org/officeDocument/2006/relationships/notesMaster" Target="/ppt/notesMasters/notesMaster1.xml" Id="R677d5f4a9f664b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a433bcecc1440d" /><Relationship Type="http://schemas.openxmlformats.org/officeDocument/2006/relationships/notesMaster" Target="/ppt/notesMasters/notesMaster1.xml" Id="R34bb9ecb126e49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9667dc31c42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7dfbd60bd44f4c" /><Relationship Type="http://schemas.openxmlformats.org/officeDocument/2006/relationships/slideLayout" Target="/ppt/slideLayouts/slideLayout2.xml" Id="R37342f7e4bf740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42f7e4bf740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84cb0461c4b96" /><Relationship Type="http://schemas.openxmlformats.org/officeDocument/2006/relationships/notesSlide" Target="/ppt/notesSlides/notesSlide1.xml" Id="Re826652586d8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2c271c43064598" /><Relationship Type="http://schemas.openxmlformats.org/officeDocument/2006/relationships/notesSlide" Target="/ppt/notesSlides/notesSlide2.xml" Id="R864fa2b90a35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d9b208e4145d9" /><Relationship Type="http://schemas.openxmlformats.org/officeDocument/2006/relationships/notesSlide" Target="/ppt/notesSlides/notesSlide3.xml" Id="R791a4061e49244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de7c354ad34c20" /><Relationship Type="http://schemas.openxmlformats.org/officeDocument/2006/relationships/notesSlide" Target="/ppt/notesSlides/notesSlide4.xml" Id="R5739a2caf712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4f3538d9c64706" /><Relationship Type="http://schemas.openxmlformats.org/officeDocument/2006/relationships/notesSlide" Target="/ppt/notesSlides/notesSlide5.xml" Id="R080ca5a815cd4f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bcfde533544666" /><Relationship Type="http://schemas.openxmlformats.org/officeDocument/2006/relationships/notesSlide" Target="/ppt/notesSlides/notesSlide6.xml" Id="Rcda75be380474a7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C5B4B"/>
            </a:gs>
            <a:gs pos="100000">
              <a:srgbClr val="163B5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A3CECD-F39B-44E7-994E-FADCEDCF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151412" cy="3124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DB76-F057-495D-A00F-A0012060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88471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PROJECTE 6 · PRESENTACIO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FC8B8-E282-45C3-84FC-4E691E88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7270"/>
            <a:ext cx="5334000" cy="792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Farmacia Soler Plataforma web de gestio i atencio al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9A46-0CF1-4ECE-8642-D4CD65DA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8919"/>
            <a:ext cx="5334000" cy="497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75">
                <a:solidFill>
                  <a:srgbClr val="DCE7EE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CE7EE"/>
                </a:solidFill>
                <a:latin typeface="Aptos"/>
                <a:ea typeface="Aptos"/>
                <a:cs typeface="Aptos"/>
              </a:rPr>
              <a:t>Hem desenvolupat una plataforma que centralitza serveis publics i gestio interna de la farmacia.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1652A-9B6C-4161-95FA-7D98B720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4821"/>
            <a:ext cx="5334000" cy="1594409"/>
          </a:xfrm>
          <a:prstGeom xmlns:a="http://schemas.openxmlformats.org/drawingml/2006/main" prst="roundRect">
            <a:avLst>
              <a:gd name="adj" fmla="val 16727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4E44E-0987-4B46-8AA6-ACC78F7D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4371"/>
            <a:ext cx="491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70C29-661E-454F-98E6-929A8FA8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8221"/>
            <a:ext cx="4914900" cy="2880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Farmacia Soler (Figueres)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0408A-5A25-41DD-A018-78CAEC5F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507"/>
            <a:ext cx="4914900" cy="468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C1D2D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1D2DC"/>
                </a:solidFill>
                <a:latin typeface="Aptos"/>
                <a:ea typeface="Aptos"/>
                <a:cs typeface="Aptos"/>
              </a:rPr>
              <a:t>Presentacio introductoria pensada per donar context abans de la demo real del producte.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1F567-7DF8-4BF2-8511-2FCED58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0680"/>
            <a:ext cx="1222629" cy="3009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157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1E302-0383-4C86-AE84-F4FA8653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6880"/>
            <a:ext cx="955929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Adrien Schirmer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6D3C4-793D-4495-B591-6DD2BDD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79" y="5440680"/>
            <a:ext cx="1168051" cy="3009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157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8AAD7-FAD6-45CA-B61F-DDC2EEA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29" y="5516880"/>
            <a:ext cx="90135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Brandon Reyes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1F536-2AA2-45A5-ABDF-D4EA0226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3120"/>
            <a:ext cx="982218" cy="449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157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7639C-DC54-4C94-9DA9-64F6BE8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9320"/>
            <a:ext cx="715518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Fran Olivera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E9594-B502-4BD4-9D58-2C834CA8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913120"/>
            <a:ext cx="1108043" cy="449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157"/>
            </a:srgbClr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DEE43-E258-4F4A-9C47-605712A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118" y="5989320"/>
            <a:ext cx="841343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Charfah Ilyass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89680-1464-4627-8FFD-9899322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"/>
            <a:ext cx="5600700" cy="5867400"/>
          </a:xfrm>
          <a:prstGeom xmlns:a="http://schemas.openxmlformats.org/drawingml/2006/main" prst="roundRect">
            <a:avLst>
              <a:gd name="adj" fmla="val 5782"/>
            </a:avLst>
          </a:prstGeom>
          <a:solidFill xmlns:a="http://schemas.openxmlformats.org/drawingml/2006/main">
            <a:srgbClr val="FFFFFF">
              <a:alpha val="7843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E7AF1-7D55-42E2-A8EB-F00200A9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85800"/>
            <a:ext cx="5219700" cy="3714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D6256-556B-4286-B5CE-EBDD763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952500"/>
            <a:ext cx="4686300" cy="214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C5B4B"/>
                </a:solidFill>
                <a:latin typeface="Aptos"/>
                <a:ea typeface="Aptos"/>
                <a:cs typeface="Aptos"/>
              </a:rPr>
              <a:t>Visio general del producte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73545-0789-4D1E-B08F-663ED8A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81113"/>
            <a:ext cx="4686300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2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Una sola plataforma per a processos publics i interns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7861D-8288-4C37-8B50-27031CA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5503"/>
            <a:ext cx="4686300" cy="497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75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B6B77"/>
                </a:solidFill>
                <a:latin typeface="Aptos"/>
                <a:ea typeface="Aptos"/>
                <a:cs typeface="Aptos"/>
              </a:rPr>
              <a:t>La presentacio introdueix el client, el problema i el valor de la solucio abans de veure el producte funcionant.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BE84D-4C48-4AD1-895B-524B45B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71500" cy="3009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8D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D803F-7F5F-4B93-B27F-2CB2F302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304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B"/>
                </a:solidFill>
                <a:latin typeface="Aptos"/>
                <a:ea typeface="Aptos"/>
                <a:cs typeface="Aptos"/>
              </a:rPr>
              <a:t>Cites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A493C-E204-42FD-A72A-B912EE6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72000"/>
            <a:ext cx="649319" cy="449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13BE3-BE39-44CD-A367-CA89EF42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382619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Tallers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B1554-5729-4078-B022-826D0FB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919" y="4572000"/>
            <a:ext cx="865156" cy="3009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2DD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333BB-BBDB-4411-BFB7-95D6FD9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269" y="4648200"/>
            <a:ext cx="598456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C6B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C6B5A"/>
                </a:solidFill>
                <a:latin typeface="Aptos"/>
                <a:ea typeface="Aptos"/>
                <a:cs typeface="Aptos"/>
              </a:rPr>
              <a:t>Encarrecs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68B8A-2949-497B-85B8-BBEA4F49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644747" cy="449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157"/>
            </a:srgbClr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DD980-D8EB-443C-8C90-4DF184EA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48200"/>
            <a:ext cx="378047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687C17-D3CC-4600-8EC0-E2C694C7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3030"/>
            <a:ext cx="5219700" cy="1233297"/>
          </a:xfrm>
          <a:prstGeom xmlns:a="http://schemas.openxmlformats.org/drawingml/2006/main" prst="roundRect">
            <a:avLst>
              <a:gd name="adj" fmla="val 185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A7512-FEC8-495A-9E20-CD012567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3530"/>
            <a:ext cx="24193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B77"/>
                </a:solidFill>
                <a:latin typeface="Aptos"/>
                <a:ea typeface="Aptos"/>
                <a:cs typeface="Aptos"/>
              </a:rPr>
              <a:t>Objectiu de la presentacio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83F98-7A53-4AA1-82FD-AC49F5E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9755"/>
            <a:ext cx="2419350" cy="5760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Context + valor +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02E7C-888F-4824-930D-F6E08C4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83530"/>
            <a:ext cx="241935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C5B4B"/>
                </a:solidFill>
              </a:defRPr>
            </a:pPr>
            <a:r>
              <a:rPr sz="3600" b="1">
                <a:solidFill>
                  <a:srgbClr val="1C5B4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1155384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2E8DA"/>
            </a:gs>
            <a:gs pos="75000">
              <a:srgbClr val="FFFF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D5913-8C6C-4D7B-BA20-DF01B8E8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087309" cy="3124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4315-E028-4F20-942F-32C5A47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82060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1 · NECESSITAT DEL CLIENT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F9C7A-8B66-4422-9E68-DFA57DC6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2020"/>
            <a:ext cx="7239000" cy="39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Qui es el client i quin problema 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FFA44-0804-4762-A900-EC24B40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2370"/>
            <a:ext cx="7239000" cy="263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B77"/>
                </a:solidFill>
                <a:latin typeface="Aptos"/>
                <a:ea typeface="Aptos"/>
                <a:cs typeface="Aptos"/>
              </a:rPr>
              <a:t>Abans de parlar de funcionalitats, situem el negoci i la necessitat real que voliem resoldre.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D51FE-2FF3-4772-9367-1459237C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007" y="495300"/>
            <a:ext cx="1730693" cy="5105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D35FD-A7B5-4E45-AD4C-1EB60CB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07" y="647700"/>
            <a:ext cx="1349693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5B4B"/>
                </a:solidFill>
              </a:defRPr>
            </a:pPr>
            <a:r>
              <a:rPr sz="1350" b="1">
                <a:solidFill>
                  <a:srgbClr val="1C5B4B"/>
                </a:solidFill>
              </a:rPr>
              <a:t>Abans / Despres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458B5-0783-4451-BEC2-63CCD4A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417"/>
            <a:ext cx="5076825" cy="3596373"/>
          </a:xfrm>
          <a:prstGeom xmlns:a="http://schemas.openxmlformats.org/drawingml/2006/main" prst="roundRect">
            <a:avLst>
              <a:gd name="adj" fmla="val 74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33CDF-6CE7-43DC-953A-BCC39A8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1017"/>
            <a:ext cx="4619625" cy="214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>
                <a:solidFill>
                  <a:srgbClr val="CC6B5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C6B5A"/>
                </a:solidFill>
                <a:latin typeface="Aptos"/>
                <a:ea typeface="Aptos"/>
                <a:cs typeface="Aptos"/>
              </a:rPr>
              <a:t>Abans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234F4-8C17-49B3-95BA-2144C37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6779"/>
            <a:ext cx="4619625" cy="6240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Procesos dispersos i molta gestio 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1DE74-0CF0-486C-A74D-0210FC5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23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6B5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4C510-DE97-42F4-AB25-BE1F43E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2307"/>
            <a:ext cx="442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Gestio separada de cites, tallers, encarregs i comunicacions.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E13D9-4BD1-4135-923C-FE894CD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9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6B5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0A285-57B6-4246-AD6C-F4C92C2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957"/>
            <a:ext cx="442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Mes dependecia de tasques manuals i menys visibilitat global.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5C315-086F-4F62-93FC-E7163052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6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6B5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D74A2-C6C5-40E3-8494-C6D21E9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607"/>
            <a:ext cx="44291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Mes friccio tant per al client com per a l'equip intern.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C7300-1D3D-41B8-B3FE-496C0D4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62417"/>
            <a:ext cx="666750" cy="359637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B4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CB74F-77C0-4BBB-96D9-4C6D960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33867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A3171-7041-4435-A98D-334D261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7217"/>
            <a:ext cx="19050" cy="298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B4F8D-5F43-45CA-84F3-924B458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25399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8D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AE8D0-5958-42D0-8431-BB8D47B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62417"/>
            <a:ext cx="5076825" cy="3596373"/>
          </a:xfrm>
          <a:prstGeom xmlns:a="http://schemas.openxmlformats.org/drawingml/2006/main" prst="roundRect">
            <a:avLst>
              <a:gd name="adj" fmla="val 7416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2F7D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9C0E8-1B02-4A83-BB65-9A65F51D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91017"/>
            <a:ext cx="4619625" cy="214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>
                <a:solidFill>
                  <a:srgbClr val="2F7D6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F7D6B"/>
                </a:solidFill>
                <a:latin typeface="Aptos"/>
                <a:ea typeface="Aptos"/>
                <a:cs typeface="Aptos"/>
              </a:rPr>
              <a:t>Despres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CE72F-5BBF-4FF3-AEB7-2F8565B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76779"/>
            <a:ext cx="4619625" cy="6240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Una eina unica per ordenar i digitalitzar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C87BF-5C53-4F03-B6D1-FB48AB6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3723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47DC7-3DF1-43B9-95D7-0F7760D9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72307"/>
            <a:ext cx="44291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Centralitzacio dels fluxos publics i de l'operativa interna.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40CD3-98C4-41C6-9322-C5D94B7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437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78062-CB53-4083-B30E-DB12B1A6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43782"/>
            <a:ext cx="442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Mes comoditat per a l'usuari i mes control per a l'administracio.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8273E-85FC-4DC9-B120-B537A6A1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724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358A3-57EB-46A1-9EB5-A048C1C9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72432"/>
            <a:ext cx="44291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Digitalitzacio d’un negoci real amb processos reals.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68C0D5-EE05-4689-99DF-4A55EEFB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5490"/>
            <a:ext cx="11201400" cy="537210"/>
          </a:xfrm>
          <a:prstGeom xmlns:a="http://schemas.openxmlformats.org/drawingml/2006/main" prst="roundRect">
            <a:avLst>
              <a:gd name="adj" fmla="val 39007"/>
            </a:avLst>
          </a:prstGeom>
          <a:solidFill xmlns:a="http://schemas.openxmlformats.org/drawingml/2006/main">
            <a:srgbClr val="FFFFFF">
              <a:alpha val="72157"/>
            </a:srgbClr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D3BFE8-6E82-4DEC-8DB0-8EE0D3C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6940"/>
            <a:ext cx="1085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02B"/>
                </a:solidFill>
              </a:defRPr>
            </a:pPr>
            <a:r>
              <a:rPr sz="1275">
                <a:solidFill>
                  <a:srgbClr val="12202B"/>
                </a:solidFill>
              </a:rPr>
              <a:t>La idea no era fer una web informativa, sino convertir processos reals en una experiencia digital mes ordenada.</a:t>
            </a:r>
          </a:p>
        </p:txBody>
      </p:sp>
    </p:spTree>
    <p:extLst>
      <p:ext uri="{BB962C8B-B14F-4D97-AF65-F5344CB8AC3E}">
        <p14:creationId xmlns:p14="http://schemas.microsoft.com/office/powerpoint/2010/main" val="148605675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DEEE8"/>
            </a:gs>
            <a:gs pos="100000">
              <a:srgbClr val="FFFF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BBD7D-6F5C-4024-B070-6562A27E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864900" cy="3124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0563E-081E-4CE6-90FF-E04DF90D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5982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2 · LA NOSTRA SOLUCIO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87CBC-3D63-4EAF-89EE-D46E771D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2020"/>
            <a:ext cx="8191500" cy="408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Que hem construit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0BBBD-2C84-4842-8CAE-2AA77014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4371"/>
            <a:ext cx="8191500" cy="263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B77"/>
                </a:solidFill>
                <a:latin typeface="Aptos"/>
                <a:ea typeface="Aptos"/>
                <a:cs typeface="Aptos"/>
              </a:rPr>
              <a:t>La plataforma cobreix tant la part publica per al client com la part interna de gestio.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1A653-4B0D-4067-9A85-F43B9AB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74418"/>
            <a:ext cx="36195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34077-0F21-466A-A11A-5548541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3018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DDDD3-9DD8-4DA5-929C-446ACF55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1322"/>
            <a:ext cx="3162300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Reserva de cites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CF3A3-7F1A-487E-BD0C-F4033F6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8895"/>
            <a:ext cx="3162300" cy="468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Seleccio de servei, data i hora disponibles dins dels horaris configurats.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AF090-CAB4-4F02-A4EA-79AFF54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74418"/>
            <a:ext cx="36195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AEAAF-E25F-4367-AFBB-058F3B1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3018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4B61D-F6CC-4909-9B3E-3B20F1F5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61322"/>
            <a:ext cx="3162300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Tallers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92970-FDA6-4A6B-8EAC-CA4FFE46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8895"/>
            <a:ext cx="3162300" cy="468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Cataleg public amb inscripcio i control de places per a cada activitat.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CDD96-BFB5-42D8-B653-BCDA87B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4418"/>
            <a:ext cx="36195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0CAB9-CCBB-4129-88FA-1264E151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3018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392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92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BD800-7D45-4D8C-A478-6571772C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61322"/>
            <a:ext cx="3162300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Encarrecs a domicili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7CD31-49B8-4DC1-ABFB-28C7511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8895"/>
            <a:ext cx="3162300" cy="468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Solicitut publica amb codi de seguiment per consultar l’estat.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A25CC-1D0E-449A-825B-E13637A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2368"/>
            <a:ext cx="5514975" cy="1740332"/>
          </a:xfrm>
          <a:prstGeom xmlns:a="http://schemas.openxmlformats.org/drawingml/2006/main" prst="roundRect">
            <a:avLst>
              <a:gd name="adj" fmla="val 14230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7227F-4712-4F2C-8C14-1AA09D9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0968"/>
            <a:ext cx="50577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837D3-73D1-4C4D-9338-832847BE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2440"/>
            <a:ext cx="5057775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Farmacies de guardia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AF56C-3795-481B-BC06-0F8728B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0014"/>
            <a:ext cx="5057775" cy="234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Mapa interactiu per mostrar les farmacies obertes segons la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9600B-29E8-4DE7-8CC5-E961836E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22368"/>
            <a:ext cx="5514975" cy="1740332"/>
          </a:xfrm>
          <a:prstGeom xmlns:a="http://schemas.openxmlformats.org/drawingml/2006/main" prst="roundRect">
            <a:avLst>
              <a:gd name="adj" fmla="val 15325"/>
            </a:avLst>
          </a:prstGeom>
          <a:solidFill xmlns:a="http://schemas.openxmlformats.org/drawingml/2006/main">
            <a:srgbClr val="1C5B4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DA39D-34C1-4E76-8892-74CC18AD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50968"/>
            <a:ext cx="5057775" cy="214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>
                <a:solidFill>
                  <a:srgbClr val="B9D8C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9D8C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104BA-4877-4BB7-AC3E-4CA8A878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36731"/>
            <a:ext cx="5057775" cy="324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Panell d’administracio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CF81C-7322-49DB-94BC-5EE41C20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732221"/>
            <a:ext cx="5057775" cy="497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75">
                <a:solidFill>
                  <a:srgbClr val="D4E4E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4E4EA"/>
                </a:solidFill>
                <a:latin typeface="Aptos"/>
                <a:ea typeface="Aptos"/>
                <a:cs typeface="Aptos"/>
              </a:rPr>
              <a:t>Gestio de serveis, horaris, usuaris, tallers, correus i la resta de processos interns.</a:t>
            </a:r>
          </a:p>
        </p:txBody>
      </p:sp>
    </p:spTree>
    <p:extLst>
      <p:ext uri="{BB962C8B-B14F-4D97-AF65-F5344CB8AC3E}">
        <p14:creationId xmlns:p14="http://schemas.microsoft.com/office/powerpoint/2010/main" val="456943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23DFA-EC1B-4C13-8705-00F37DA1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527173" cy="472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4E131-788E-466E-B745-2124B53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2260473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3 · FUNCIONALITATS DESTACADES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F7074-473B-466F-BBAE-263D20E4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9190"/>
            <a:ext cx="6096000" cy="372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El valor practic del projecte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5A38E-AA52-4B00-9BA2-B835A953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2687"/>
            <a:ext cx="6096000" cy="497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75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B6B77"/>
                </a:solidFill>
                <a:latin typeface="Aptos"/>
                <a:ea typeface="Aptos"/>
                <a:cs typeface="Aptos"/>
              </a:rPr>
              <a:t>Aquestes son les funcionalitats que expliquen millor per que la plataforma es util i demo-ready.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6CFE3-F4D2-44FF-B185-2B9710A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1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921EA-A79B-4D6A-B9AB-7BBDF28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157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2202B"/>
                </a:solidFill>
                <a:latin typeface="Aptos"/>
                <a:ea typeface="Aptos"/>
                <a:cs typeface="Aptos"/>
              </a:rPr>
              <a:t>Cites: seleccio de servei, data i hora disponibles, confirmacio per correu i PDF.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5550B-5FC8-4EB7-9283-1FD61EB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4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7D59F-9C1B-49E9-85C2-D6388CBA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447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2202B"/>
                </a:solidFill>
                <a:latin typeface="Aptos"/>
                <a:ea typeface="Aptos"/>
                <a:cs typeface="Aptos"/>
              </a:rPr>
              <a:t>Tallers: inscripcio publica amb control de places.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9891A-E3D8-42EF-BD70-0C927A26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7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7AE34-2C5B-4F31-8A13-DEA8B2CB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737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2202B"/>
                </a:solidFill>
                <a:latin typeface="Aptos"/>
                <a:ea typeface="Aptos"/>
                <a:cs typeface="Aptos"/>
              </a:rPr>
              <a:t>Encarrecs: codi de seguiment per consultar l’estat.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04735-B66D-44E7-9181-5C47A44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02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E68F6-E1DE-4B02-BA33-DDFE1195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027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2202B"/>
                </a:solidFill>
                <a:latin typeface="Aptos"/>
                <a:ea typeface="Aptos"/>
                <a:cs typeface="Aptos"/>
              </a:rPr>
              <a:t>Farmacies de guardia: mapa interactiu segons la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17085-5FD6-46F3-AA6A-7D5C3BC7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3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AA8CF-58B9-4B00-A4DA-4D84255F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317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2202B"/>
                </a:solidFill>
                <a:latin typeface="Aptos"/>
                <a:ea typeface="Aptos"/>
                <a:cs typeface="Aptos"/>
              </a:rPr>
              <a:t>Admin: gestio de serveis, horaris, usuaris, tallers i correus.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DB337-AF07-47B3-AAB8-6A8E9F28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3220"/>
            <a:ext cx="6096000" cy="877672"/>
          </a:xfrm>
          <a:prstGeom xmlns:a="http://schemas.openxmlformats.org/drawingml/2006/main" prst="roundRect">
            <a:avLst>
              <a:gd name="adj" fmla="val 30387"/>
            </a:avLst>
          </a:prstGeom>
          <a:solidFill xmlns:a="http://schemas.openxmlformats.org/drawingml/2006/main">
            <a:srgbClr val="1C5B4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F7802-67F8-47A1-8A49-CDCB1586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2770"/>
            <a:ext cx="5676900" cy="4585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Aquestes funcionalitats no les explicarem totes a fons ara: les deixem preparades per veure-les millor a la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89B05-5F18-4D88-A729-174B7800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"/>
            <a:ext cx="2352675" cy="2952750"/>
          </a:xfrm>
          <a:prstGeom xmlns:a="http://schemas.openxmlformats.org/drawingml/2006/main" prst="roundRect">
            <a:avLst>
              <a:gd name="adj" fmla="val 11336"/>
            </a:avLst>
          </a:prstGeom>
          <a:solidFill xmlns:a="http://schemas.openxmlformats.org/drawingml/2006/main">
            <a:srgbClr val="EEF4F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155A4-07F4-414E-9B62-A5F64FB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23900"/>
            <a:ext cx="18954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5B4B"/>
                </a:solidFill>
              </a:defRPr>
            </a:pPr>
            <a:r>
              <a:rPr sz="1125" b="1">
                <a:solidFill>
                  <a:srgbClr val="1C5B4B"/>
                </a:solidFill>
              </a:rPr>
              <a:t>Per que aquesta slide importa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F0474-F06E-4225-9A5A-1B4E0EA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62050"/>
            <a:ext cx="1895475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Les funcionalitats son el pont entre el problema i la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65F30-9F68-4CBC-A79A-84433F6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97480"/>
            <a:ext cx="1895475" cy="936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No es tracta d’ensenyar totes les pantalles, sino de destacar allo que demostra valor real.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BBEA8-CD61-45F7-BCE6-CF638EEE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05276"/>
            <a:ext cx="1895475" cy="1365504"/>
          </a:xfrm>
          <a:prstGeom xmlns:a="http://schemas.openxmlformats.org/drawingml/2006/main" prst="roundRect">
            <a:avLst>
              <a:gd name="adj" fmla="val 15346"/>
            </a:avLst>
          </a:prstGeom>
          <a:solidFill xmlns:a="http://schemas.openxmlformats.org/drawingml/2006/main">
            <a:srgbClr val="1C5B4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B39E8-4843-4E1E-AD49-643970D9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57676"/>
            <a:ext cx="1590675" cy="1060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Missatge clau: cada modul resol una necessitat concreta i prepara una demo facil d’entendre.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2CF9B-72FC-4AD1-A654-454B2A4A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95300"/>
            <a:ext cx="2352675" cy="2952750"/>
          </a:xfrm>
          <a:prstGeom xmlns:a="http://schemas.openxmlformats.org/drawingml/2006/main" prst="roundRect">
            <a:avLst>
              <a:gd name="adj" fmla="val 11336"/>
            </a:avLst>
          </a:prstGeom>
          <a:solidFill xmlns:a="http://schemas.openxmlformats.org/drawingml/2006/main">
            <a:srgbClr val="F2E8D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C46A1-2B8F-4766-BEA0-64A51635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23900"/>
            <a:ext cx="18954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5B4B"/>
                </a:solidFill>
              </a:defRPr>
            </a:pPr>
            <a:r>
              <a:rPr sz="1125" b="1">
                <a:solidFill>
                  <a:srgbClr val="1C5B4B"/>
                </a:solidFill>
              </a:rPr>
              <a:t>Flux de demo recomanat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FD4F0-61D4-4639-BE15-00A281D7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43050"/>
            <a:ext cx="189547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02B"/>
                </a:solidFill>
              </a:defRPr>
            </a:pPr>
            <a:r>
              <a:rPr sz="1800" b="1">
                <a:solidFill>
                  <a:srgbClr val="12202B"/>
                </a:solidFill>
              </a:rPr>
              <a:t>1. Flux public rapid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EF5B3C-E842-45BB-8906-8432007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44090"/>
            <a:ext cx="189547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7"/>
                </a:solidFill>
              </a:defRPr>
            </a:pPr>
            <a:r>
              <a:rPr sz="1350">
                <a:solidFill>
                  <a:srgbClr val="5B6B77"/>
                </a:solidFill>
              </a:rPr>
              <a:t>2. Resultat o confirmacio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CD142-0451-46AD-BB93-3C73EBD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07970"/>
            <a:ext cx="189547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7"/>
                </a:solidFill>
              </a:defRPr>
            </a:pPr>
            <a:r>
              <a:rPr sz="1350">
                <a:solidFill>
                  <a:srgbClr val="5B6B77"/>
                </a:solidFill>
              </a:rPr>
              <a:t>3. Entrada al panell admin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D20210-B0D5-4AC9-9080-2B9B4AC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876800" cy="27432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4E476-CD5A-4A63-8B3F-508A28B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48100"/>
            <a:ext cx="2124075" cy="2286000"/>
          </a:xfrm>
          <a:prstGeom xmlns:a="http://schemas.openxmlformats.org/drawingml/2006/main" prst="roundRect">
            <a:avLst>
              <a:gd name="adj" fmla="val 12556"/>
            </a:avLst>
          </a:prstGeom>
          <a:solidFill xmlns:a="http://schemas.openxmlformats.org/drawingml/2006/main">
            <a:srgbClr val="DDEEE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A0E0BC-A371-4ABA-893A-C21A720E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76700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5B4B"/>
                </a:solidFill>
              </a:defRPr>
            </a:pPr>
            <a:r>
              <a:rPr sz="1125" b="1">
                <a:solidFill>
                  <a:srgbClr val="1C5B4B"/>
                </a:solidFill>
              </a:rPr>
              <a:t>Exemple de valor public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5A440-CD64-4072-B321-5CA3E9C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62450"/>
            <a:ext cx="1666875" cy="5760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Reserva de cites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D6F1A-9549-45F8-841F-11A9F41E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52822"/>
            <a:ext cx="1666875" cy="702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Usuari tria servei, data i hora disponible; rep confirmacio i PDF.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D89B98-98FC-446A-ADD2-B374F14F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48100"/>
            <a:ext cx="2124075" cy="2286000"/>
          </a:xfrm>
          <a:prstGeom xmlns:a="http://schemas.openxmlformats.org/drawingml/2006/main" prst="roundRect">
            <a:avLst>
              <a:gd name="adj" fmla="val 12556"/>
            </a:avLst>
          </a:prstGeom>
          <a:solidFill xmlns:a="http://schemas.openxmlformats.org/drawingml/2006/main">
            <a:srgbClr val="EEF1F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B059C6-6A22-4F2C-A37B-7DD4976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76700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B57"/>
                </a:solidFill>
              </a:defRPr>
            </a:pPr>
            <a:r>
              <a:rPr sz="1125" b="1">
                <a:solidFill>
                  <a:srgbClr val="163B57"/>
                </a:solidFill>
              </a:rPr>
              <a:t>Exemple de valor intern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90A284-727E-4703-BB5C-A6BCEA1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62450"/>
            <a:ext cx="1666875" cy="2880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Panell admin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D4F66-F0AF-49D8-8B4C-0FC9D8A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64786"/>
            <a:ext cx="1666875" cy="936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L’equip pot gestionar serveis, horaris, tallers, usuaris i correus des d’un sol lloc.</a:t>
            </a:r>
          </a:p>
        </p:txBody>
      </p:sp>
    </p:spTree>
    <p:extLst>
      <p:ext uri="{BB962C8B-B14F-4D97-AF65-F5344CB8AC3E}">
        <p14:creationId xmlns:p14="http://schemas.microsoft.com/office/powerpoint/2010/main" val="116283111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2202B"/>
            </a:gs>
            <a:gs pos="100000">
              <a:srgbClr val="163B5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73E68-2C3A-4FFC-B0F1-410F4758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907477" cy="3124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196"/>
            </a:srgbClr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3FA27-FEA2-4920-8485-368FC1F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64077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· VALOR I DIFERENCIAL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DE07A-C31F-48E0-984E-FB59B61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2020"/>
            <a:ext cx="8572500" cy="408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 aporta aquesta 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623ED-B0FE-46EC-A227-0AD58B1C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4371"/>
            <a:ext cx="8572500" cy="263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D3DEE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3DEE7"/>
                </a:solidFill>
                <a:latin typeface="Aptos"/>
                <a:ea typeface="Aptos"/>
                <a:cs typeface="Aptos"/>
              </a:rPr>
              <a:t>Mes que una web: una eina de treball i atencio al client per a un negoci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9EB14-1F27-478D-9763-BE11CC3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4700"/>
            <a:ext cx="2671763" cy="2952750"/>
          </a:xfrm>
          <a:prstGeom xmlns:a="http://schemas.openxmlformats.org/drawingml/2006/main" prst="roundRect">
            <a:avLst>
              <a:gd name="adj" fmla="val 92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B0B85-BCAE-4617-9655-86FAB4DB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3300"/>
            <a:ext cx="221456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67E72-20AF-405D-B4E5-C7BC519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9017"/>
            <a:ext cx="2214563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Centralitzacio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EEF3C-0496-4919-B30B-30D3C101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6590"/>
            <a:ext cx="2214563" cy="702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Reuneix en una sola plataforma processos que abans estaven dispersos.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5E188-18BC-4EDF-9B49-53F5CDDF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2244700"/>
            <a:ext cx="2671763" cy="2952750"/>
          </a:xfrm>
          <a:prstGeom xmlns:a="http://schemas.openxmlformats.org/drawingml/2006/main" prst="roundRect">
            <a:avLst>
              <a:gd name="adj" fmla="val 9269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EB0F4-1286-4E45-B80B-0E76BA28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73300"/>
            <a:ext cx="221456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B57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4E040-DCC1-4273-A699-CDB8FB98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869017"/>
            <a:ext cx="2214563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Comoditat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4C685-1BF2-4710-A134-691B90D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266590"/>
            <a:ext cx="2214563" cy="702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Fa mes facil reservar, inscriure’s o consultar informacio des de la part publica.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20CF9-4953-40A0-AC9E-BDAB49F5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4700"/>
            <a:ext cx="2671763" cy="2952750"/>
          </a:xfrm>
          <a:prstGeom xmlns:a="http://schemas.openxmlformats.org/drawingml/2006/main" prst="roundRect">
            <a:avLst>
              <a:gd name="adj" fmla="val 9269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543CB-36C3-40B9-BAE5-D713BD27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3300"/>
            <a:ext cx="221456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392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922E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4CAF0-F997-439D-9903-162EAF5C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69017"/>
            <a:ext cx="2214563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Automatitzacio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F6FF0-53AE-4934-B620-D51AAE0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66590"/>
            <a:ext cx="2214563" cy="702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Activa correus, confirmacions i fluxos que redueixen gestio manual.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613AB-ECDC-4352-B542-B4231B06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244700"/>
            <a:ext cx="2671763" cy="2952750"/>
          </a:xfrm>
          <a:prstGeom xmlns:a="http://schemas.openxmlformats.org/drawingml/2006/main" prst="roundRect">
            <a:avLst>
              <a:gd name="adj" fmla="val 9269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D1239-F6A9-4D6E-88B3-CDFDD8E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73300"/>
            <a:ext cx="221456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6B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DAD13-0636-45C7-9047-958CDBA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869017"/>
            <a:ext cx="2214563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30CD9-2229-4120-9ACA-6A98132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266590"/>
            <a:ext cx="2214563" cy="702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20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B6B77"/>
                </a:solidFill>
                <a:latin typeface="Aptos"/>
                <a:ea typeface="Aptos"/>
                <a:cs typeface="Aptos"/>
              </a:rPr>
              <a:t>Dona visibilitat i administracio sobre serveis, tallers, usuaris i comunicacions.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0FFB2-4155-4429-BD64-069CBFC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431"/>
            <a:ext cx="11201400" cy="628269"/>
          </a:xfrm>
          <a:prstGeom xmlns:a="http://schemas.openxmlformats.org/drawingml/2006/main" prst="roundRect">
            <a:avLst>
              <a:gd name="adj" fmla="val 36386"/>
            </a:avLst>
          </a:prstGeom>
          <a:solidFill xmlns:a="http://schemas.openxmlformats.org/drawingml/2006/main">
            <a:srgbClr val="FFFFFF">
              <a:alpha val="7059"/>
            </a:srgbClr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B3BD8-5EC0-47C4-8BFB-3D71CF1E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981"/>
            <a:ext cx="10782300" cy="2091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es nomes una practica academica: es una solucio realista per digitalitzar processos reals de la Farmacia Soler.</a:t>
            </a:r>
          </a:p>
        </p:txBody>
      </p:sp>
    </p:spTree>
    <p:extLst>
      <p:ext uri="{BB962C8B-B14F-4D97-AF65-F5344CB8AC3E}">
        <p14:creationId xmlns:p14="http://schemas.microsoft.com/office/powerpoint/2010/main" val="1910330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1AE21-2F1A-4829-9C42-DDC546B3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246948" cy="3124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AAD7E-017E-41B6-82BD-B7CF737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980248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B4B"/>
                </a:solidFill>
                <a:latin typeface="Aptos"/>
                <a:ea typeface="Aptos"/>
                <a:cs typeface="Aptos"/>
              </a:rPr>
              <a:t>5 · BASE TECNICA I FIABILITAT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72238-B5FE-4289-96CF-CFC949B5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2020"/>
            <a:ext cx="8572500" cy="408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02B"/>
                </a:solidFill>
                <a:latin typeface="Aptos Display"/>
                <a:ea typeface="Aptos Display"/>
                <a:cs typeface="Aptos Display"/>
              </a:rPr>
              <a:t>Tecnologia i qualitat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AECE2-67B5-407C-8708-1C6AA60A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4371"/>
            <a:ext cx="8572500" cy="263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5B6B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B77"/>
                </a:solidFill>
                <a:latin typeface="Aptos"/>
                <a:ea typeface="Aptos"/>
                <a:cs typeface="Aptos"/>
              </a:rPr>
              <a:t>Una base moderna, funcional i robusta, explicada sense entrar encara en massa arquitectura.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D14B7-B17D-4192-9668-1C9C221C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5368"/>
            <a:ext cx="5514975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D15F7-4304-4400-80F2-E3F5CC5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3968"/>
            <a:ext cx="5057775" cy="214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>
                <a:solidFill>
                  <a:srgbClr val="1C5B4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C5B4B"/>
                </a:solidFill>
                <a:latin typeface="Aptos"/>
                <a:ea typeface="Aptos"/>
                <a:cs typeface="Aptos"/>
              </a:rPr>
              <a:t>Stack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4CBC2-62A8-4A79-ADBB-A2A52ED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163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8562E-E1ED-49A3-8F60-12F4A364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1631"/>
            <a:ext cx="48672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Laravel + Vue + Inertia per construir la plataforma.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60ECF-F56A-42ED-9DB9-48BA30F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31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D8AFE-EE7A-4930-AAAD-4615795C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3106"/>
            <a:ext cx="48672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Tailwind CSS per al sistema visual.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BFF91-645B-4380-9981-37C5B60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458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38519-8B62-49A1-93CB-D07B5468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4581"/>
            <a:ext cx="48672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Fortify i 2FA per a autenticacio i seguretat.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C34F7-186F-4CCE-9F1B-968D6B0B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605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45EA0-36E4-4E6D-A44A-7E8FF262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6056"/>
            <a:ext cx="48672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Correus i PDF automatics per als fluxos de cites.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7CE35-988C-4950-AF58-E21F46E8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55368"/>
            <a:ext cx="5514975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DF6A3-BAFE-4499-A016-B01D7F6F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83968"/>
            <a:ext cx="5057775" cy="214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>
                <a:solidFill>
                  <a:srgbClr val="163B5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63B57"/>
                </a:solidFill>
                <a:latin typeface="Aptos"/>
                <a:ea typeface="Aptos"/>
                <a:cs typeface="Aptos"/>
              </a:rPr>
              <a:t>Qualitat del producte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AC2FF-8E19-429B-9AA0-0F96AC5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3163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9BE5A-6EA4-4B0E-8CC7-91F3D6B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31631"/>
            <a:ext cx="48672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Tests amb Pest per validar funcionalitats clau.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43F60-72B8-4EA0-B1CE-802C465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031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E9BED-A593-425F-8B7F-FA077C1E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03106"/>
            <a:ext cx="48672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Tests E2E amb Playwright per reforcar fluxos reals.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999AA-377A-44D7-9DC0-6E7119D3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7458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F6873-46F7-47C9-B1A9-ECAE582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74581"/>
            <a:ext cx="48672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Arquitectura separada entre rutes, validacio, controladors i logica.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F953B-9321-4DCA-8109-DE951CE0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0323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E82D96-E22D-4EF4-8025-980547D6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03231"/>
            <a:ext cx="48672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2202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02B"/>
                </a:solidFill>
                <a:latin typeface="Aptos"/>
                <a:ea typeface="Aptos"/>
                <a:cs typeface="Aptos"/>
              </a:rPr>
              <a:t>Panell admin i fluxos publics dins d’una sola experiencia coherent.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A9FEA-68C1-48DA-AAD8-966DFECB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2018"/>
            <a:ext cx="11201400" cy="902284"/>
          </a:xfrm>
          <a:prstGeom xmlns:a="http://schemas.openxmlformats.org/drawingml/2006/main" prst="roundRect">
            <a:avLst>
              <a:gd name="adj" fmla="val 25336"/>
            </a:avLst>
          </a:prstGeom>
          <a:solidFill xmlns:a="http://schemas.openxmlformats.org/drawingml/2006/main">
            <a:srgbClr val="1C5B4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55492-66F4-4385-B63D-60FE1A8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2518"/>
            <a:ext cx="1082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FD6CE"/>
                </a:solidFill>
              </a:defRPr>
            </a:pPr>
            <a:r>
              <a:rPr sz="1125" b="1">
                <a:solidFill>
                  <a:srgbClr val="BFD6CE"/>
                </a:solidFill>
              </a:rPr>
              <a:t>Tancament abans de la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D9A6D-A8E9-4C6B-8F35-5E814A8E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0168"/>
            <a:ext cx="10820400" cy="2736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Un cop vista la idea general del projecte, ara us ensenyarem una demo real per veure com funciona en practica.</a:t>
            </a:r>
          </a:p>
        </p:txBody>
      </p:sp>
    </p:spTree>
    <p:extLst>
      <p:ext uri="{BB962C8B-B14F-4D97-AF65-F5344CB8AC3E}">
        <p14:creationId xmlns:p14="http://schemas.microsoft.com/office/powerpoint/2010/main" val="1502205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2026-05-21T00:28:03.2280000Z</dcterms:created>
  <dcterms:modified xsi:type="dcterms:W3CDTF">2026-05-21T00:28:03.2280000Z</dcterms:modified>
</coreProperties>
</file>